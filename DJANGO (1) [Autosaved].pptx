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7"/>
  </p:notesMasterIdLst>
  <p:handoutMasterIdLst>
    <p:handoutMasterId r:id="rId28"/>
  </p:handoutMasterIdLst>
  <p:sldIdLst>
    <p:sldId id="312" r:id="rId5"/>
    <p:sldId id="314" r:id="rId6"/>
    <p:sldId id="316" r:id="rId7"/>
    <p:sldId id="313" r:id="rId8"/>
    <p:sldId id="315" r:id="rId9"/>
    <p:sldId id="317" r:id="rId10"/>
    <p:sldId id="318" r:id="rId11"/>
    <p:sldId id="321" r:id="rId12"/>
    <p:sldId id="320" r:id="rId13"/>
    <p:sldId id="319" r:id="rId14"/>
    <p:sldId id="322" r:id="rId15"/>
    <p:sldId id="323" r:id="rId16"/>
    <p:sldId id="327" r:id="rId17"/>
    <p:sldId id="328" r:id="rId18"/>
    <p:sldId id="329" r:id="rId19"/>
    <p:sldId id="324" r:id="rId20"/>
    <p:sldId id="325" r:id="rId21"/>
    <p:sldId id="326" r:id="rId22"/>
    <p:sldId id="330" r:id="rId23"/>
    <p:sldId id="331" r:id="rId24"/>
    <p:sldId id="332" r:id="rId25"/>
    <p:sldId id="333" r:id="rId2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5388" autoAdjust="0"/>
  </p:normalViewPr>
  <p:slideViewPr>
    <p:cSldViewPr snapToGrid="0" snapToObjects="1">
      <p:cViewPr varScale="1">
        <p:scale>
          <a:sx n="63" d="100"/>
          <a:sy n="63" d="100"/>
        </p:scale>
        <p:origin x="370" y="8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pPr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djust.com/glossary/application/" TargetMode="Externa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6600" dirty="0"/>
              <a:t>DJANGO</a:t>
            </a:r>
            <a:br>
              <a:rPr lang="en-US" sz="6600" dirty="0"/>
            </a:b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4E3A9C-F189-242B-7082-DC085EECC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2752DD-7D49-484E-1B3E-3022D7042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245807"/>
            <a:ext cx="10205883" cy="594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2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26F494-4559-E090-25AE-DC729723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10CF9-8C60-612A-93E2-866A8894A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03" y="530942"/>
            <a:ext cx="9429136" cy="539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7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5DFB89-840B-787A-A1FE-9F88D8EB6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B851D-077F-D21C-85F9-9EADF7274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305" y="1272353"/>
            <a:ext cx="6561389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3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390A3C-E4C3-3802-6DD6-73D591ACD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C85CC3-E334-282E-3D5A-1776044B372E}"/>
              </a:ext>
            </a:extLst>
          </p:cNvPr>
          <p:cNvSpPr txBox="1"/>
          <p:nvPr/>
        </p:nvSpPr>
        <p:spPr>
          <a:xfrm>
            <a:off x="1198592" y="1973989"/>
            <a:ext cx="1046246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Django is good for making web applications because it is fast, secure, and comes with built-in features like user authentication, admin panel, and database management, which help developers build powerful websites quickly and efficiently.</a:t>
            </a:r>
          </a:p>
          <a:p>
            <a:endParaRPr lang="en-US" sz="2800" dirty="0"/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630752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56A0E8-7C7B-3AB1-87B6-E56C48564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9BDB0-5532-FEFC-F83E-85C0F258906B}"/>
              </a:ext>
            </a:extLst>
          </p:cNvPr>
          <p:cNvSpPr txBox="1"/>
          <p:nvPr/>
        </p:nvSpPr>
        <p:spPr>
          <a:xfrm>
            <a:off x="765973" y="457199"/>
            <a:ext cx="11062233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How to install </a:t>
            </a:r>
            <a:r>
              <a:rPr lang="en-US" sz="1800" dirty="0" err="1"/>
              <a:t>django</a:t>
            </a:r>
            <a:r>
              <a:rPr lang="en-US" sz="1800" dirty="0"/>
              <a:t>:</a:t>
            </a:r>
          </a:p>
          <a:p>
            <a:endParaRPr lang="en-US" dirty="0"/>
          </a:p>
          <a:p>
            <a:r>
              <a:rPr lang="en-US" sz="1800" dirty="0"/>
              <a:t>1. Make sure Python is already installed in our system </a:t>
            </a:r>
          </a:p>
          <a:p>
            <a:r>
              <a:rPr lang="en-US" sz="1800" b="1" dirty="0"/>
              <a:t>                     </a:t>
            </a:r>
            <a:r>
              <a:rPr lang="en-US" sz="2000" b="1" dirty="0"/>
              <a:t>python --version </a:t>
            </a:r>
          </a:p>
          <a:p>
            <a:endParaRPr lang="en-US" sz="1800" b="1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We create an environment to isolate our Django project and its dependencies so that it doesn’t conflict with other projects or system-wide packages.</a:t>
            </a:r>
          </a:p>
          <a:p>
            <a:r>
              <a:rPr lang="en-US" b="1" dirty="0"/>
              <a:t>                </a:t>
            </a:r>
          </a:p>
          <a:p>
            <a:r>
              <a:rPr lang="en-US" b="1" dirty="0"/>
              <a:t>              </a:t>
            </a:r>
            <a:r>
              <a:rPr lang="en-US" sz="2000" b="1" dirty="0"/>
              <a:t>python –m </a:t>
            </a:r>
            <a:r>
              <a:rPr lang="en-US" sz="2000" b="1" dirty="0" err="1"/>
              <a:t>venv</a:t>
            </a:r>
            <a:r>
              <a:rPr lang="en-US" sz="2000" b="1" dirty="0"/>
              <a:t> “</a:t>
            </a:r>
            <a:r>
              <a:rPr lang="en-US" sz="2000" b="1" dirty="0" err="1"/>
              <a:t>envname</a:t>
            </a:r>
            <a:r>
              <a:rPr lang="en-US" sz="2000" b="1" dirty="0"/>
              <a:t>”</a:t>
            </a:r>
          </a:p>
          <a:p>
            <a:endParaRPr lang="en-US" sz="2000" b="1" dirty="0"/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Install </a:t>
            </a:r>
            <a:r>
              <a:rPr lang="en-US" sz="2000" dirty="0" err="1"/>
              <a:t>django</a:t>
            </a:r>
            <a:r>
              <a:rPr lang="en-US" sz="2000" dirty="0"/>
              <a:t> by using pip</a:t>
            </a:r>
            <a:endParaRPr lang="en-IN" sz="2000" dirty="0"/>
          </a:p>
          <a:p>
            <a:r>
              <a:rPr lang="en-IN" sz="2000" b="1" dirty="0"/>
              <a:t>                       pip install </a:t>
            </a:r>
            <a:r>
              <a:rPr lang="en-IN" sz="2000" b="1" dirty="0" err="1"/>
              <a:t>django</a:t>
            </a:r>
            <a:endParaRPr lang="en-IN" sz="2000" b="1" dirty="0"/>
          </a:p>
          <a:p>
            <a:endParaRPr lang="en-US" sz="2000" b="1" dirty="0"/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/>
              <a:t>Create a project in </a:t>
            </a:r>
            <a:r>
              <a:rPr lang="en-US" sz="2000" dirty="0" err="1"/>
              <a:t>django</a:t>
            </a:r>
            <a:r>
              <a:rPr lang="en-US" sz="2000" dirty="0"/>
              <a:t> </a:t>
            </a:r>
          </a:p>
          <a:p>
            <a:pPr marL="342900" indent="-342900"/>
            <a:r>
              <a:rPr lang="en-US" sz="2000" dirty="0"/>
              <a:t>         </a:t>
            </a:r>
            <a:r>
              <a:rPr lang="en-US" sz="2000" b="1" dirty="0" err="1"/>
              <a:t>django</a:t>
            </a:r>
            <a:r>
              <a:rPr lang="en-US" sz="2000" b="1" dirty="0"/>
              <a:t>-admin </a:t>
            </a:r>
            <a:r>
              <a:rPr lang="en-US" sz="2000" b="1" dirty="0" err="1"/>
              <a:t>startproject</a:t>
            </a:r>
            <a:r>
              <a:rPr lang="en-US" sz="2000" b="1" dirty="0"/>
              <a:t> </a:t>
            </a:r>
            <a:r>
              <a:rPr lang="en-US" sz="2000" b="1" dirty="0" err="1"/>
              <a:t>projectname</a:t>
            </a:r>
            <a:endParaRPr lang="en-US" sz="2000" b="1" dirty="0"/>
          </a:p>
          <a:p>
            <a:pPr marL="342900" indent="-342900"/>
            <a:endParaRPr lang="en-US" sz="2000" dirty="0"/>
          </a:p>
          <a:p>
            <a:pPr marL="457200" indent="-457200">
              <a:buFont typeface="+mj-lt"/>
              <a:buAutoNum type="arabicPeriod" startAt="5"/>
            </a:pPr>
            <a:r>
              <a:rPr lang="en-US" sz="2000" dirty="0"/>
              <a:t> </a:t>
            </a:r>
            <a:r>
              <a:rPr lang="en-US" sz="2000" b="1" dirty="0" err="1"/>
              <a:t>cd</a:t>
            </a:r>
            <a:r>
              <a:rPr lang="en-US" sz="2000" b="1" dirty="0"/>
              <a:t> </a:t>
            </a:r>
            <a:r>
              <a:rPr lang="en-US" sz="2000" b="1" dirty="0" err="1"/>
              <a:t>Projectname</a:t>
            </a:r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3646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504966" y="313899"/>
            <a:ext cx="1125940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6.To check if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Django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project is installed and running correctly, use:			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      python manage.py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runserver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myproject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             ← 🌟 Base Directory</a:t>
            </a:r>
          </a:p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├── manage.py</a:t>
            </a:r>
          </a:p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├──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myproject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         ← Inner project folder (confusingly same name)</a:t>
            </a:r>
          </a:p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│   ├── __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init__.py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│   ├── settings.py</a:t>
            </a:r>
          </a:p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│   ├── urls.py</a:t>
            </a:r>
          </a:p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│   └── wsgi.py</a:t>
            </a:r>
          </a:p>
          <a:p>
            <a:pPr marL="342900" indent="-342900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7.In the Base Directory</a:t>
            </a:r>
          </a:p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create two folders:</a:t>
            </a:r>
          </a:p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1. template          store HTML files only </a:t>
            </a:r>
          </a:p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2.static                 store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CSS,Images,JavaScript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files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86249" y="4763058"/>
            <a:ext cx="395785" cy="10918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2588521" y="5051938"/>
            <a:ext cx="395785" cy="10918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59390" y="457199"/>
            <a:ext cx="10244919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8.Then ,create app in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django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project</a:t>
            </a:r>
          </a:p>
          <a:p>
            <a:pPr marL="342900" indent="-34290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			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 python  manage.py 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startapp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appname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9. So to settings.py</a:t>
            </a:r>
          </a:p>
          <a:p>
            <a:pPr marL="342900" indent="-342900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     INSTALLED_APPS=[    ‘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eventapp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’,                      app defining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                                            :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                                             : ]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10. TEMPLATES =[</a:t>
            </a:r>
          </a:p>
          <a:p>
            <a:pPr marL="342900" indent="-342900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					DIRS :[  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os.path.join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(BASE_DIR,’ template ‘)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                             ]</a:t>
            </a:r>
          </a:p>
          <a:p>
            <a:pPr marL="342900" indent="-342900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11.Below STATIC_URL =‘static/’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      define :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                STATICFILES_DIR =[ 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os.path.join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(BASE_DIR,’ static ‘)</a:t>
            </a:r>
          </a:p>
          <a:p>
            <a:pPr marL="342900" indent="-342900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5349922" y="1869743"/>
            <a:ext cx="873457" cy="5459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41278" y="457199"/>
            <a:ext cx="6096000" cy="30777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/>
            <a:r>
              <a:rPr lang="en-US" b="1" dirty="0">
                <a:latin typeface="Times New Roman" pitchFamily="18" charset="0"/>
                <a:cs typeface="Times New Roman" pitchFamily="18" charset="0"/>
              </a:rPr>
              <a:t>12. In the template folder :</a:t>
            </a:r>
          </a:p>
          <a:p>
            <a:pPr marL="342900" indent="-342900"/>
            <a:r>
              <a:rPr lang="en-US" b="1" dirty="0">
                <a:latin typeface="Times New Roman" pitchFamily="18" charset="0"/>
                <a:cs typeface="Times New Roman" pitchFamily="18" charset="0"/>
              </a:rPr>
              <a:t>Create html files:</a:t>
            </a:r>
          </a:p>
          <a:p>
            <a:pPr marL="342900" indent="-342900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template/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         ├──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base.html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	├── index.html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	├── about.html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	├──events.html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       ├── booking.html</a:t>
            </a:r>
          </a:p>
          <a:p>
            <a:pPr marL="342900" indent="-34290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         ├── contact.html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537" y="1011197"/>
            <a:ext cx="266771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static/</a:t>
            </a:r>
          </a:p>
          <a:p>
            <a:pPr marL="342900" indent="-342900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	├──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css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	├──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js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	├──images</a:t>
            </a:r>
          </a:p>
          <a:p>
            <a:pPr marL="342900" indent="-342900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marL="342900" indent="-342900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627" y="341194"/>
            <a:ext cx="1140232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13.In event app ,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create a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urls.py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file 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  from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django.urls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import path 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  from . import views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urlpatterns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 [ path(‘’,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views.index,name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=‘index’)]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14.In event app,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views.py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           From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django.shortcuts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import render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Create your view here.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           def index(request):               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uses functions to create views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                     return render(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request,’index.html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’)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544705" y="5691115"/>
            <a:ext cx="1296537" cy="21836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64275" y="517036"/>
            <a:ext cx="267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Base.html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224" y="1064525"/>
            <a:ext cx="84734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{%  block title %}</a:t>
            </a:r>
          </a:p>
          <a:p>
            <a:r>
              <a:rPr lang="en-US" b="1" dirty="0"/>
              <a:t>																								For adding different titles	</a:t>
            </a:r>
          </a:p>
          <a:p>
            <a:endParaRPr lang="en-US" b="1" dirty="0"/>
          </a:p>
          <a:p>
            <a:r>
              <a:rPr lang="en-US" b="1" dirty="0"/>
              <a:t>{% </a:t>
            </a:r>
            <a:r>
              <a:rPr lang="en-US" b="1" dirty="0" err="1"/>
              <a:t>endblock</a:t>
            </a:r>
            <a:r>
              <a:rPr lang="en-US" b="1" dirty="0"/>
              <a:t> %} 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57099" y="1610437"/>
            <a:ext cx="764274" cy="3821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1236" y="4053385"/>
            <a:ext cx="1067709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{%  block content %}</a:t>
            </a:r>
          </a:p>
          <a:p>
            <a:r>
              <a:rPr lang="en-US" b="1" dirty="0"/>
              <a:t>																								                          For adding different contents	</a:t>
            </a:r>
          </a:p>
          <a:p>
            <a:endParaRPr lang="en-US" b="1" dirty="0"/>
          </a:p>
          <a:p>
            <a:r>
              <a:rPr lang="en-US" b="1" dirty="0"/>
              <a:t>{% </a:t>
            </a:r>
            <a:r>
              <a:rPr lang="en-US" b="1" dirty="0" err="1"/>
              <a:t>endblock</a:t>
            </a:r>
            <a:r>
              <a:rPr lang="en-US" b="1" dirty="0"/>
              <a:t> %} 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9499" y="4601570"/>
            <a:ext cx="764274" cy="3821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8847" y="457199"/>
            <a:ext cx="869584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load base.html to other html pages by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top of the page :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{% extends ‘base.html’ %}</a:t>
            </a: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load static files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top of the page :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{% load static %}</a:t>
            </a:r>
          </a:p>
          <a:p>
            <a:pPr>
              <a:buFont typeface="Arial" pitchFamily="34" charset="0"/>
              <a:buChar char="•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9B838E-1F95-F631-7D23-73121760C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4DC8F-F14F-0DEB-C718-C091573E25D6}"/>
              </a:ext>
            </a:extLst>
          </p:cNvPr>
          <p:cNvSpPr txBox="1"/>
          <p:nvPr/>
        </p:nvSpPr>
        <p:spPr>
          <a:xfrm>
            <a:off x="275303" y="339212"/>
            <a:ext cx="117102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3200" b="1" u="sng" dirty="0">
                <a:solidFill>
                  <a:srgbClr val="FF0000"/>
                </a:solidFill>
              </a:rPr>
              <a:t>What is an API (application programming interface)?</a:t>
            </a:r>
          </a:p>
          <a:p>
            <a:pPr fontAlgn="base"/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API definition and API meaning: An application program interface (API) is a defined set of rules that allows different software systems to communicate.</a:t>
            </a:r>
            <a:r>
              <a:rPr lang="en-US" sz="2400" dirty="0"/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APIs enable </a:t>
            </a:r>
            <a:r>
              <a:rPr lang="en-US" sz="2400" dirty="0">
                <a:hlinkClick r:id="rId2"/>
              </a:rPr>
              <a:t>applications</a:t>
            </a:r>
            <a:r>
              <a:rPr lang="en-US" sz="2400" dirty="0"/>
              <a:t> to request and exchange information, access features, and integrate services, without needing to understand each other’s internal logic.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They act as a bridge, allowing developers to connect tools, platforms, and products in a standardized and secure way.</a:t>
            </a:r>
          </a:p>
        </p:txBody>
      </p:sp>
    </p:spTree>
    <p:extLst>
      <p:ext uri="{BB962C8B-B14F-4D97-AF65-F5344CB8AC3E}">
        <p14:creationId xmlns:p14="http://schemas.microsoft.com/office/powerpoint/2010/main" val="1712193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CD8C2F-16C5-D927-1072-D216DF54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026" name="Picture 2" descr="How APIs work">
            <a:extLst>
              <a:ext uri="{FF2B5EF4-FFF2-40B4-BE49-F238E27FC236}">
                <a16:creationId xmlns:a16="http://schemas.microsoft.com/office/drawing/2014/main" id="{44D5D295-20EE-DD2A-3B23-8E9B0ADC8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488"/>
            <a:ext cx="12192000" cy="667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438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3634C0-0758-7682-8E67-8022B9CB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11E7A6-E142-BBA9-476E-A1773F4783E7}"/>
              </a:ext>
            </a:extLst>
          </p:cNvPr>
          <p:cNvSpPr txBox="1"/>
          <p:nvPr/>
        </p:nvSpPr>
        <p:spPr>
          <a:xfrm>
            <a:off x="403122" y="475637"/>
            <a:ext cx="11493909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3200" b="1" i="0" u="sng" dirty="0">
                <a:solidFill>
                  <a:srgbClr val="FF0000"/>
                </a:solidFill>
                <a:effectLst/>
                <a:latin typeface="TTNormsPro"/>
              </a:rPr>
              <a:t>Why are APIs important?</a:t>
            </a:r>
          </a:p>
          <a:p>
            <a:pPr marL="457200" indent="-4572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TNormsPro"/>
              </a:rPr>
              <a:t>APIs are the backbone of modern software development. </a:t>
            </a:r>
          </a:p>
          <a:p>
            <a:pPr marL="457200" indent="-4572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TNormsPro"/>
              </a:rPr>
              <a:t>They unlock speed, interoperability, and scalability by allowing developers to plug into existing services instead of building every feature from scratch. </a:t>
            </a:r>
          </a:p>
          <a:p>
            <a:pPr marL="457200" indent="-4572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TNormsPro"/>
              </a:rPr>
              <a:t>This enables teams to integrate complex functionality, such as authentication, payments, and location services, quickly and reliably.</a:t>
            </a:r>
          </a:p>
        </p:txBody>
      </p:sp>
    </p:spTree>
    <p:extLst>
      <p:ext uri="{BB962C8B-B14F-4D97-AF65-F5344CB8AC3E}">
        <p14:creationId xmlns:p14="http://schemas.microsoft.com/office/powerpoint/2010/main" val="1027996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0A2EE8-8218-FA19-473E-CE8E1183A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B1C9B-5108-ACE4-E127-CEDA922B3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9" y="339212"/>
            <a:ext cx="10288074" cy="49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291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68123E-A89E-4428-5667-5E211891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935BAE-92CD-A87C-FADC-243157790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959" y="781832"/>
            <a:ext cx="9190516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03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37B213-17CF-2A89-8B5E-BE42BC1D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F14C3-06C4-BF92-C158-C977B7E30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73" y="302503"/>
            <a:ext cx="10660054" cy="47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2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9DF61A-F7A9-63F4-25F1-99ED85D8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F90AB1-1D36-E8FD-3734-11896A8E1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391" y="308412"/>
            <a:ext cx="8986603" cy="586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58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560A56-86E2-46D9-BDEE-4632D2D7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865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28DBC5-5529-07D4-517D-4DB83DA8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253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FC84DB-D4E7-F919-7B0F-B0D72DF8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0175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{47325E13-366D-43D7-BC44-0B2911CDFBAD}tf78438558_win32</Template>
  <TotalTime>229</TotalTime>
  <Words>748</Words>
  <Application>Microsoft Office PowerPoint</Application>
  <PresentationFormat>Widescreen</PresentationFormat>
  <Paragraphs>130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Sabon Next LT</vt:lpstr>
      <vt:lpstr>Times New Roman</vt:lpstr>
      <vt:lpstr>TTNormsPro</vt:lpstr>
      <vt:lpstr>Custom</vt:lpstr>
      <vt:lpstr>DJANGO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</dc:title>
  <dc:subject/>
  <dc:creator>akshara sambasivan</dc:creator>
  <cp:lastModifiedBy>akshara sambasivan</cp:lastModifiedBy>
  <cp:revision>21</cp:revision>
  <dcterms:created xsi:type="dcterms:W3CDTF">2025-05-26T17:21:04Z</dcterms:created>
  <dcterms:modified xsi:type="dcterms:W3CDTF">2026-05-03T16:13:41Z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